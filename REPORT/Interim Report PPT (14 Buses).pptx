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141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1430" r:id="rId16"/>
    <p:sldId id="273" r:id="rId17"/>
    <p:sldId id="275" r:id="rId18"/>
    <p:sldId id="276" r:id="rId19"/>
    <p:sldId id="277" r:id="rId20"/>
    <p:sldId id="278" r:id="rId21"/>
    <p:sldId id="142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4" d="100"/>
          <a:sy n="124" d="100"/>
        </p:scale>
        <p:origin x="254" y="-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20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353E8-EE06-514A-8B70-11C620ADC30B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4EC29-8603-47CD-BF62-6A78CD4CD3B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F5F4935-92F8-4533-B109-667246AA79CA}" type="datetime1">
              <a:rPr lang="en-US" smtClean="0"/>
              <a:t>4/7/2026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91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4821C-1C8E-813A-FBB9-5F8468BD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78B12-E166-2ED0-488A-32DED7145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0A741-53B7-A17D-CC25-27FFA3168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1A57F-9318-073C-A4A8-A447294C1A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93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1697B5-E2A5-0EF5-FB6E-DB7C45CE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0780B-5F9A-4CBA-8E9A-2882EF0000AB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71E484-D445-701F-9CC7-F3EBD9B13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FBEC5-9DA8-DB11-50B4-7F58308C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C2BE3-C5E7-FD4C-BAF2-9E836F7EF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524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Xplan-project/reXplan-repo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cosovic.github.io/JuliaGrid.jl/dev/api/optimalPowerFlow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95D0DDA-A4D7-57AB-5827-F7D430D9767C}"/>
              </a:ext>
            </a:extLst>
          </p:cNvPr>
          <p:cNvSpPr/>
          <p:nvPr/>
        </p:nvSpPr>
        <p:spPr>
          <a:xfrm>
            <a:off x="-260236" y="-331348"/>
            <a:ext cx="9404236" cy="5858177"/>
          </a:xfrm>
          <a:prstGeom prst="rect">
            <a:avLst/>
          </a:prstGeom>
          <a:gradFill>
            <a:gsLst>
              <a:gs pos="0">
                <a:srgbClr val="14265E"/>
              </a:gs>
              <a:gs pos="100000">
                <a:srgbClr val="002060"/>
              </a:gs>
            </a:gsLst>
            <a:lin ang="27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889"/>
              </a:lnSpc>
            </a:pPr>
            <a:r>
              <a:rPr lang="en-US" sz="1350" dirty="0">
                <a:solidFill>
                  <a:srgbClr val="0B29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June , 30</a:t>
            </a:r>
            <a:r>
              <a:rPr lang="en-US" sz="1350" baseline="30000" dirty="0">
                <a:solidFill>
                  <a:srgbClr val="0B29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1350" dirty="0">
                <a:solidFill>
                  <a:srgbClr val="0B29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2025</a:t>
            </a:r>
          </a:p>
          <a:p>
            <a:pPr algn="ctr">
              <a:lnSpc>
                <a:spcPts val="1889"/>
              </a:lnSpc>
            </a:pPr>
            <a:r>
              <a:rPr lang="en-US" sz="1350" dirty="0">
                <a:solidFill>
                  <a:srgbClr val="0B29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June , 30</a:t>
            </a:r>
            <a:r>
              <a:rPr lang="en-US" sz="1350" baseline="30000" dirty="0">
                <a:solidFill>
                  <a:srgbClr val="0B29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US" sz="1350" dirty="0">
                <a:solidFill>
                  <a:srgbClr val="0B295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C75CBA-172B-9A1F-1F97-2EE4E634AD2C}"/>
              </a:ext>
            </a:extLst>
          </p:cNvPr>
          <p:cNvSpPr txBox="1"/>
          <p:nvPr/>
        </p:nvSpPr>
        <p:spPr>
          <a:xfrm>
            <a:off x="-2611056" y="1784013"/>
            <a:ext cx="369963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chemeClr val="bg1">
                    <a:alpha val="0"/>
                  </a:schemeClr>
                </a:solidFill>
                <a:latin typeface="Albert Sans" pitchFamily="2" charset="0"/>
                <a:cs typeface="Latha" panose="020B0502040204020203" pitchFamily="34" charset="0"/>
              </a:rPr>
              <a:t>Outline</a:t>
            </a:r>
          </a:p>
        </p:txBody>
      </p:sp>
      <p:sp>
        <p:nvSpPr>
          <p:cNvPr id="5" name="!!Oval 94">
            <a:extLst>
              <a:ext uri="{FF2B5EF4-FFF2-40B4-BE49-F238E27FC236}">
                <a16:creationId xmlns:a16="http://schemas.microsoft.com/office/drawing/2014/main" id="{B129FD73-0F0A-6EE8-C01E-DDA6C337043E}"/>
              </a:ext>
            </a:extLst>
          </p:cNvPr>
          <p:cNvSpPr/>
          <p:nvPr/>
        </p:nvSpPr>
        <p:spPr>
          <a:xfrm>
            <a:off x="-6213335" y="-8250844"/>
            <a:ext cx="21570669" cy="21645188"/>
          </a:xfrm>
          <a:prstGeom prst="ellipse">
            <a:avLst/>
          </a:prstGeom>
          <a:noFill/>
          <a:ln w="1905000">
            <a:solidFill>
              <a:srgbClr val="1D5A91"/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1" name="!!Oval 92a">
            <a:extLst>
              <a:ext uri="{FF2B5EF4-FFF2-40B4-BE49-F238E27FC236}">
                <a16:creationId xmlns:a16="http://schemas.microsoft.com/office/drawing/2014/main" id="{6A8C9199-74F6-D34C-2C49-F980B6F6483A}"/>
              </a:ext>
            </a:extLst>
          </p:cNvPr>
          <p:cNvSpPr/>
          <p:nvPr/>
        </p:nvSpPr>
        <p:spPr>
          <a:xfrm>
            <a:off x="-4477271" y="-6477521"/>
            <a:ext cx="18098543" cy="18098543"/>
          </a:xfrm>
          <a:prstGeom prst="ellipse">
            <a:avLst/>
          </a:prstGeom>
          <a:noFill/>
          <a:ln w="876300">
            <a:solidFill>
              <a:srgbClr val="052160"/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6" name="!!Oval 92">
            <a:extLst>
              <a:ext uri="{FF2B5EF4-FFF2-40B4-BE49-F238E27FC236}">
                <a16:creationId xmlns:a16="http://schemas.microsoft.com/office/drawing/2014/main" id="{60973449-D720-32AF-7AEC-421067AAD444}"/>
              </a:ext>
            </a:extLst>
          </p:cNvPr>
          <p:cNvSpPr/>
          <p:nvPr/>
        </p:nvSpPr>
        <p:spPr>
          <a:xfrm>
            <a:off x="-5658894" y="-7659145"/>
            <a:ext cx="20461788" cy="20461788"/>
          </a:xfrm>
          <a:prstGeom prst="ellipse">
            <a:avLst/>
          </a:prstGeom>
          <a:noFill/>
          <a:ln w="876300">
            <a:solidFill>
              <a:srgbClr val="052160"/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9460" name="Freeform: Shape 19459">
            <a:extLst>
              <a:ext uri="{FF2B5EF4-FFF2-40B4-BE49-F238E27FC236}">
                <a16:creationId xmlns:a16="http://schemas.microsoft.com/office/drawing/2014/main" id="{36C7DCF8-6D9D-1589-B075-FEF89FE5571F}"/>
              </a:ext>
            </a:extLst>
          </p:cNvPr>
          <p:cNvSpPr/>
          <p:nvPr/>
        </p:nvSpPr>
        <p:spPr>
          <a:xfrm>
            <a:off x="-31636" y="4183476"/>
            <a:ext cx="12554780" cy="5584004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9248" name="TextBox 20">
            <a:extLst>
              <a:ext uri="{FF2B5EF4-FFF2-40B4-BE49-F238E27FC236}">
                <a16:creationId xmlns:a16="http://schemas.microsoft.com/office/drawing/2014/main" id="{44A944BB-093E-28AA-DE5D-D75072FCDAF0}"/>
              </a:ext>
            </a:extLst>
          </p:cNvPr>
          <p:cNvSpPr txBox="1"/>
          <p:nvPr/>
        </p:nvSpPr>
        <p:spPr>
          <a:xfrm>
            <a:off x="4101606" y="4244334"/>
            <a:ext cx="4341364" cy="184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200" b="1" spc="-35" dirty="0">
                <a:solidFill>
                  <a:schemeClr val="tx1">
                    <a:alpha val="66000"/>
                  </a:schemeClr>
                </a:solidFill>
                <a:latin typeface="Albert Sans" pitchFamily="2" charset="0"/>
              </a:rPr>
              <a:t>COMMITTEES:       </a:t>
            </a:r>
          </a:p>
        </p:txBody>
      </p:sp>
      <p:sp>
        <p:nvSpPr>
          <p:cNvPr id="9256" name="TextBox 9255">
            <a:extLst>
              <a:ext uri="{FF2B5EF4-FFF2-40B4-BE49-F238E27FC236}">
                <a16:creationId xmlns:a16="http://schemas.microsoft.com/office/drawing/2014/main" id="{A97CDF0E-D181-E08B-7156-7503E18AD022}"/>
              </a:ext>
            </a:extLst>
          </p:cNvPr>
          <p:cNvSpPr txBox="1"/>
          <p:nvPr/>
        </p:nvSpPr>
        <p:spPr>
          <a:xfrm>
            <a:off x="100518" y="3671209"/>
            <a:ext cx="4341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solidFill>
                  <a:schemeClr val="bg1">
                    <a:lumMod val="95000"/>
                  </a:schemeClr>
                </a:solidFill>
                <a:latin typeface="Albert Sans" panose="02020500000000000000" charset="0"/>
                <a:ea typeface="標楷體" panose="03000509000000000000" pitchFamily="65" charset="-120"/>
                <a:cs typeface="Calibri" panose="020F0502020204030204" pitchFamily="34" charset="0"/>
              </a:rPr>
              <a:t>吳有基教授</a:t>
            </a:r>
            <a:endParaRPr lang="en-US" altLang="zh-TW" sz="1600" b="1" dirty="0">
              <a:solidFill>
                <a:schemeClr val="bg1">
                  <a:lumMod val="95000"/>
                </a:schemeClr>
              </a:solidFill>
              <a:latin typeface="Albert Sans" panose="02020500000000000000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19459" name="TextBox 19458">
            <a:extLst>
              <a:ext uri="{FF2B5EF4-FFF2-40B4-BE49-F238E27FC236}">
                <a16:creationId xmlns:a16="http://schemas.microsoft.com/office/drawing/2014/main" id="{6AAD96A4-3D66-28D2-2AC8-E7CBDD585D75}"/>
              </a:ext>
            </a:extLst>
          </p:cNvPr>
          <p:cNvSpPr txBox="1"/>
          <p:nvPr/>
        </p:nvSpPr>
        <p:spPr>
          <a:xfrm>
            <a:off x="275569" y="4880637"/>
            <a:ext cx="264441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350" b="1" dirty="0">
                <a:solidFill>
                  <a:srgbClr val="222222"/>
                </a:solidFill>
                <a:ea typeface="標楷體" panose="03000509000000000000" pitchFamily="65" charset="-120"/>
                <a:cs typeface="Calibri" panose="020F0502020204030204" pitchFamily="34" charset="0"/>
              </a:rPr>
              <a:t>電氣工程系</a:t>
            </a:r>
            <a:endParaRPr lang="en-US" altLang="zh-TW" sz="1350" b="1" dirty="0">
              <a:solidFill>
                <a:srgbClr val="222222"/>
              </a:solidFill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9259" name="!!Rectangle: Rounded Corners 9258">
            <a:extLst>
              <a:ext uri="{FF2B5EF4-FFF2-40B4-BE49-F238E27FC236}">
                <a16:creationId xmlns:a16="http://schemas.microsoft.com/office/drawing/2014/main" id="{B75CD110-0FDA-B94F-D2FF-9E709F9F1163}"/>
              </a:ext>
            </a:extLst>
          </p:cNvPr>
          <p:cNvSpPr/>
          <p:nvPr/>
        </p:nvSpPr>
        <p:spPr>
          <a:xfrm>
            <a:off x="1787809" y="995321"/>
            <a:ext cx="7185956" cy="2179750"/>
          </a:xfrm>
          <a:prstGeom prst="roundRect">
            <a:avLst>
              <a:gd name="adj" fmla="val 11725"/>
            </a:avLst>
          </a:prstGeom>
          <a:gradFill flip="none" rotWithShape="1">
            <a:gsLst>
              <a:gs pos="100000">
                <a:srgbClr val="2B4F91"/>
              </a:gs>
              <a:gs pos="0">
                <a:schemeClr val="accent5">
                  <a:lumMod val="50000"/>
                </a:schemeClr>
              </a:gs>
            </a:gsLst>
            <a:lin ang="18900000" scaled="1"/>
            <a:tileRect/>
          </a:gradFill>
          <a:ln w="38100">
            <a:solidFill>
              <a:schemeClr val="accent5">
                <a:lumMod val="75000"/>
                <a:alpha val="6400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9245" name="TextBox 9244">
            <a:extLst>
              <a:ext uri="{FF2B5EF4-FFF2-40B4-BE49-F238E27FC236}">
                <a16:creationId xmlns:a16="http://schemas.microsoft.com/office/drawing/2014/main" id="{B8FAB424-B7CF-8CEC-4685-CBFB1E8F4EBE}"/>
              </a:ext>
            </a:extLst>
          </p:cNvPr>
          <p:cNvSpPr txBox="1"/>
          <p:nvPr/>
        </p:nvSpPr>
        <p:spPr>
          <a:xfrm>
            <a:off x="3323503" y="1430808"/>
            <a:ext cx="5462394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2400" b="1" dirty="0">
                <a:solidFill>
                  <a:schemeClr val="bg1"/>
                </a:solidFill>
              </a:rPr>
              <a:t>導入</a:t>
            </a:r>
            <a:r>
              <a:rPr lang="en-US" sz="2400" b="1" dirty="0">
                <a:solidFill>
                  <a:schemeClr val="bg1"/>
                </a:solidFill>
              </a:rPr>
              <a:t>AI</a:t>
            </a:r>
            <a:r>
              <a:rPr lang="zh-TW" altLang="en-US" sz="2400" b="1" dirty="0">
                <a:solidFill>
                  <a:schemeClr val="bg1"/>
                </a:solidFill>
              </a:rPr>
              <a:t>於</a:t>
            </a:r>
            <a:r>
              <a:rPr lang="en-US" sz="2400" b="1" dirty="0">
                <a:solidFill>
                  <a:schemeClr val="bg1"/>
                </a:solidFill>
              </a:rPr>
              <a:t>Monte Carlo</a:t>
            </a:r>
            <a:r>
              <a:rPr lang="zh-TW" altLang="en-US" sz="2400" b="1" dirty="0">
                <a:solidFill>
                  <a:schemeClr val="bg1"/>
                </a:solidFill>
              </a:rPr>
              <a:t>分析電力系統韌性</a:t>
            </a:r>
            <a:r>
              <a:rPr lang="en-US" altLang="zh-TW" sz="2400" b="1" dirty="0">
                <a:solidFill>
                  <a:schemeClr val="bg1"/>
                </a:solidFill>
              </a:rPr>
              <a:t>: </a:t>
            </a:r>
            <a:r>
              <a:rPr lang="en-US" sz="2400" b="1" dirty="0">
                <a:solidFill>
                  <a:schemeClr val="bg1"/>
                </a:solidFill>
              </a:rPr>
              <a:t>Power System Reliability Assessment Using Monte Carlo OPF Simulation and Fully Connected Neural Network</a:t>
            </a:r>
          </a:p>
          <a:p>
            <a:pPr algn="just"/>
            <a:endParaRPr lang="en-US" sz="1350" b="1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24DE4B6-30B6-0BF8-9C47-4F2627E468C9}"/>
              </a:ext>
            </a:extLst>
          </p:cNvPr>
          <p:cNvGrpSpPr/>
          <p:nvPr/>
        </p:nvGrpSpPr>
        <p:grpSpPr>
          <a:xfrm>
            <a:off x="3323503" y="1064630"/>
            <a:ext cx="4813585" cy="369332"/>
            <a:chOff x="4436911" y="1327093"/>
            <a:chExt cx="6418113" cy="492443"/>
          </a:xfrm>
        </p:grpSpPr>
        <p:sp>
          <p:nvSpPr>
            <p:cNvPr id="9246" name="TextBox 9245">
              <a:extLst>
                <a:ext uri="{FF2B5EF4-FFF2-40B4-BE49-F238E27FC236}">
                  <a16:creationId xmlns:a16="http://schemas.microsoft.com/office/drawing/2014/main" id="{018D23A6-CA88-DE31-1154-4ED986B016A8}"/>
                </a:ext>
              </a:extLst>
            </p:cNvPr>
            <p:cNvSpPr txBox="1"/>
            <p:nvPr/>
          </p:nvSpPr>
          <p:spPr>
            <a:xfrm>
              <a:off x="4436911" y="1327093"/>
              <a:ext cx="487654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600">
                  <a:solidFill>
                    <a:schemeClr val="bg1">
                      <a:alpha val="71000"/>
                    </a:schemeClr>
                  </a:solidFill>
                  <a:latin typeface="Georgia Pro Black" panose="02040A02050405020203" pitchFamily="18" charset="0"/>
                </a:defRPr>
              </a:lvl1pPr>
            </a:lstStyle>
            <a:p>
              <a:r>
                <a:rPr lang="en-US" altLang="zh-TW" sz="1800" b="1" dirty="0">
                  <a:solidFill>
                    <a:srgbClr val="FFFF00"/>
                  </a:solidFill>
                  <a:latin typeface="Albert Sans" pitchFamily="2" charset="0"/>
                </a:rPr>
                <a:t>INTERIM REPORT</a:t>
              </a:r>
            </a:p>
          </p:txBody>
        </p:sp>
        <p:sp>
          <p:nvSpPr>
            <p:cNvPr id="19462" name="Rectangle: Rounded Corners 19461">
              <a:extLst>
                <a:ext uri="{FF2B5EF4-FFF2-40B4-BE49-F238E27FC236}">
                  <a16:creationId xmlns:a16="http://schemas.microsoft.com/office/drawing/2014/main" id="{FBEC89D6-FB38-ECEA-118F-6BF9EB639A8B}"/>
                </a:ext>
              </a:extLst>
            </p:cNvPr>
            <p:cNvSpPr/>
            <p:nvPr/>
          </p:nvSpPr>
          <p:spPr>
            <a:xfrm>
              <a:off x="8066363" y="1717566"/>
              <a:ext cx="2788661" cy="45719"/>
            </a:xfrm>
            <a:prstGeom prst="roundRect">
              <a:avLst/>
            </a:prstGeom>
            <a:solidFill>
              <a:schemeClr val="bg1">
                <a:alpha val="14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9464" name="TextBox 19463">
            <a:extLst>
              <a:ext uri="{FF2B5EF4-FFF2-40B4-BE49-F238E27FC236}">
                <a16:creationId xmlns:a16="http://schemas.microsoft.com/office/drawing/2014/main" id="{69DCB626-B0AE-C2C3-4F35-C0A9A06CB603}"/>
              </a:ext>
            </a:extLst>
          </p:cNvPr>
          <p:cNvSpPr txBox="1"/>
          <p:nvPr/>
        </p:nvSpPr>
        <p:spPr>
          <a:xfrm>
            <a:off x="1143353" y="2029508"/>
            <a:ext cx="12756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bg1">
                    <a:alpha val="0"/>
                  </a:schemeClr>
                </a:solidFill>
                <a:latin typeface="Albert Sans" pitchFamily="2" charset="0"/>
              </a:rPr>
              <a:t>BANDUNG</a:t>
            </a:r>
          </a:p>
        </p:txBody>
      </p:sp>
      <p:sp>
        <p:nvSpPr>
          <p:cNvPr id="19465" name="TextBox 19464">
            <a:extLst>
              <a:ext uri="{FF2B5EF4-FFF2-40B4-BE49-F238E27FC236}">
                <a16:creationId xmlns:a16="http://schemas.microsoft.com/office/drawing/2014/main" id="{A5F91787-2BA4-2127-0623-41197808667D}"/>
              </a:ext>
            </a:extLst>
          </p:cNvPr>
          <p:cNvSpPr txBox="1"/>
          <p:nvPr/>
        </p:nvSpPr>
        <p:spPr>
          <a:xfrm>
            <a:off x="1054771" y="1865370"/>
            <a:ext cx="1266932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5" b="1" dirty="0">
                <a:solidFill>
                  <a:schemeClr val="bg1">
                    <a:alpha val="0"/>
                  </a:schemeClr>
                </a:solidFill>
                <a:latin typeface="Albert Sans" pitchFamily="2" charset="0"/>
              </a:rPr>
              <a:t>INSTITUT TEKNOLOGI</a:t>
            </a:r>
          </a:p>
        </p:txBody>
      </p:sp>
      <p:sp>
        <p:nvSpPr>
          <p:cNvPr id="3" name="!!Oval 2">
            <a:extLst>
              <a:ext uri="{FF2B5EF4-FFF2-40B4-BE49-F238E27FC236}">
                <a16:creationId xmlns:a16="http://schemas.microsoft.com/office/drawing/2014/main" id="{93BB26FA-B99B-B8DD-CC40-D27C0ADC2638}"/>
              </a:ext>
            </a:extLst>
          </p:cNvPr>
          <p:cNvSpPr/>
          <p:nvPr/>
        </p:nvSpPr>
        <p:spPr>
          <a:xfrm>
            <a:off x="802253" y="885679"/>
            <a:ext cx="2399033" cy="2399033"/>
          </a:xfrm>
          <a:prstGeom prst="ellipse">
            <a:avLst/>
          </a:prstGeom>
          <a:gradFill flip="none" rotWithShape="1">
            <a:gsLst>
              <a:gs pos="100000">
                <a:srgbClr val="0070C0"/>
              </a:gs>
              <a:gs pos="0">
                <a:schemeClr val="accent5">
                  <a:lumMod val="50000"/>
                </a:schemeClr>
              </a:gs>
            </a:gsLst>
            <a:lin ang="18900000" scaled="1"/>
            <a:tileRect/>
          </a:gradFill>
          <a:ln w="38100">
            <a:solidFill>
              <a:schemeClr val="accent5">
                <a:lumMod val="7500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7178B-EE50-6BF3-BCCD-F58B8DEE4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771" b="96224" l="2637" r="99805">
                        <a14:foregroundMark x1="9180" y1="54167" x2="8789" y2="60547"/>
                        <a14:foregroundMark x1="38086" y1="7422" x2="43945" y2="10547"/>
                        <a14:foregroundMark x1="52051" y1="6771" x2="56055" y2="10547"/>
                        <a14:foregroundMark x1="90430" y1="37500" x2="95546" y2="40304"/>
                        <a14:foregroundMark x1="99316" y1="56120" x2="99805" y2="66927"/>
                        <a14:foregroundMark x1="97656" y1="42708" x2="95508" y2="42708"/>
                        <a14:foregroundMark x1="97461" y1="42057" x2="97461" y2="42057"/>
                        <a14:foregroundMark x1="97461" y1="42057" x2="97461" y2="42057"/>
                        <a14:foregroundMark x1="96973" y1="41667" x2="98340" y2="42969"/>
                        <a14:foregroundMark x1="2940" y1="65794" x2="3223" y2="77344"/>
                        <a14:foregroundMark x1="2899" y1="64128" x2="2912" y2="64676"/>
                        <a14:foregroundMark x1="9473" y1="92839" x2="79590" y2="95182"/>
                        <a14:foregroundMark x1="9180" y1="96094" x2="33594" y2="96224"/>
                        <a14:foregroundMark x1="33594" y1="96224" x2="47656" y2="95443"/>
                        <a14:backgroundMark x1="99512" y1="42057" x2="99707" y2="43750"/>
                        <a14:backgroundMark x1="98847" y1="42057" x2="99316" y2="42578"/>
                        <a14:backgroundMark x1="96387" y1="39323" x2="97684" y2="40765"/>
                        <a14:backgroundMark x1="4688" y1="59635" x2="293" y2="60677"/>
                        <a14:backgroundMark x1="3906" y1="59896" x2="0" y2="64714"/>
                        <a14:backgroundMark x1="1660" y1="64063" x2="195" y2="69141"/>
                        <a14:backgroundMark x1="2832" y1="57682" x2="2344" y2="608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43" r="7794" b="452"/>
          <a:stretch>
            <a:fillRect/>
          </a:stretch>
        </p:blipFill>
        <p:spPr bwMode="auto">
          <a:xfrm>
            <a:off x="815338" y="1044648"/>
            <a:ext cx="2372568" cy="2240476"/>
          </a:xfrm>
          <a:custGeom>
            <a:avLst/>
            <a:gdLst>
              <a:gd name="connsiteX0" fmla="*/ 1215006 w 4477310"/>
              <a:gd name="connsiteY0" fmla="*/ 0 h 4228036"/>
              <a:gd name="connsiteX1" fmla="*/ 3262305 w 4477310"/>
              <a:gd name="connsiteY1" fmla="*/ 0 h 4228036"/>
              <a:gd name="connsiteX2" fmla="*/ 3305731 w 4477310"/>
              <a:gd name="connsiteY2" fmla="*/ 20920 h 4228036"/>
              <a:gd name="connsiteX3" fmla="*/ 4477310 w 4477310"/>
              <a:gd name="connsiteY3" fmla="*/ 1989381 h 4228036"/>
              <a:gd name="connsiteX4" fmla="*/ 2238655 w 4477310"/>
              <a:gd name="connsiteY4" fmla="*/ 4228036 h 4228036"/>
              <a:gd name="connsiteX5" fmla="*/ 0 w 4477310"/>
              <a:gd name="connsiteY5" fmla="*/ 1989381 h 4228036"/>
              <a:gd name="connsiteX6" fmla="*/ 1171579 w 4477310"/>
              <a:gd name="connsiteY6" fmla="*/ 20920 h 422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7310" h="4228036">
                <a:moveTo>
                  <a:pt x="1215006" y="0"/>
                </a:moveTo>
                <a:lnTo>
                  <a:pt x="3262305" y="0"/>
                </a:lnTo>
                <a:lnTo>
                  <a:pt x="3305731" y="20920"/>
                </a:lnTo>
                <a:cubicBezTo>
                  <a:pt x="4003576" y="400012"/>
                  <a:pt x="4477310" y="1139373"/>
                  <a:pt x="4477310" y="1989381"/>
                </a:cubicBezTo>
                <a:cubicBezTo>
                  <a:pt x="4477310" y="3225756"/>
                  <a:pt x="3475030" y="4228036"/>
                  <a:pt x="2238655" y="4228036"/>
                </a:cubicBezTo>
                <a:cubicBezTo>
                  <a:pt x="1002280" y="4228036"/>
                  <a:pt x="0" y="3225756"/>
                  <a:pt x="0" y="1989381"/>
                </a:cubicBezTo>
                <a:cubicBezTo>
                  <a:pt x="0" y="1139373"/>
                  <a:pt x="473734" y="400012"/>
                  <a:pt x="1171579" y="2092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58" name="!!Oval 9257">
            <a:extLst>
              <a:ext uri="{FF2B5EF4-FFF2-40B4-BE49-F238E27FC236}">
                <a16:creationId xmlns:a16="http://schemas.microsoft.com/office/drawing/2014/main" id="{108B51B6-308B-2F06-0E40-998B76DA291E}"/>
              </a:ext>
            </a:extLst>
          </p:cNvPr>
          <p:cNvSpPr/>
          <p:nvPr/>
        </p:nvSpPr>
        <p:spPr>
          <a:xfrm>
            <a:off x="802253" y="885679"/>
            <a:ext cx="2399033" cy="239903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7500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3F007E-65FF-4DAD-9D85-D5BFA832186B}"/>
              </a:ext>
            </a:extLst>
          </p:cNvPr>
          <p:cNvSpPr txBox="1"/>
          <p:nvPr/>
        </p:nvSpPr>
        <p:spPr>
          <a:xfrm>
            <a:off x="4613375" y="3365635"/>
            <a:ext cx="239145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bg1">
                    <a:lumMod val="9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April,22</a:t>
            </a:r>
            <a:r>
              <a:rPr lang="en-US" sz="1350" baseline="30000" dirty="0">
                <a:solidFill>
                  <a:schemeClr val="bg1">
                    <a:lumMod val="9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US" sz="1350" dirty="0">
                <a:solidFill>
                  <a:schemeClr val="bg1">
                    <a:lumMod val="9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2026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AE44FB-BB41-4F2E-B956-A0764F3012CF}"/>
              </a:ext>
            </a:extLst>
          </p:cNvPr>
          <p:cNvSpPr txBox="1"/>
          <p:nvPr/>
        </p:nvSpPr>
        <p:spPr>
          <a:xfrm>
            <a:off x="-150314" y="4472544"/>
            <a:ext cx="34358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spc="225" dirty="0">
                <a:solidFill>
                  <a:schemeClr val="bg1">
                    <a:lumMod val="95000"/>
                    <a:alpha val="54000"/>
                  </a:schemeClr>
                </a:solidFill>
                <a:latin typeface="Albert Sans" panose="02020500000000000000" charset="0"/>
              </a:rPr>
              <a:t>Smart System lab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7DDD60-AD8D-44C5-AC25-032B81BC9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39435" y="80352"/>
            <a:ext cx="2057400" cy="273844"/>
          </a:xfrm>
        </p:spPr>
        <p:txBody>
          <a:bodyPr/>
          <a:lstStyle/>
          <a:p>
            <a:r>
              <a:rPr lang="en-US" sz="1200" b="1" dirty="0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97D0147-0777-9BA7-9FFC-E56B2593C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465" y="927737"/>
            <a:ext cx="2314915" cy="231491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359322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/>
      <p:bldP spid="924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0292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9052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Background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2161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system reliability, typhoon hazard context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65760" y="1673352"/>
            <a:ext cx="50292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65760" y="167335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0208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and scope of the study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478024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2478024"/>
            <a:ext cx="50292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65760" y="2478024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8254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OPF + FCNN pipeline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82696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3282696"/>
            <a:ext cx="50292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65760" y="3282696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3192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Description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6301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14-bus system &amp; generator data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087368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65760" y="4087368"/>
            <a:ext cx="50292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365760" y="4087368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41239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OPF Results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434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33,600 simulation runs, EENS analysis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868680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4846320" y="868680"/>
            <a:ext cx="50292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846320" y="8686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40680" y="9052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FCNN Model &amp; Performance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12161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training, R² = 0.9989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1673352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4846320" y="1673352"/>
            <a:ext cx="50292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4846320" y="167335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40680" y="17099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Outage Analysis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40680" y="20208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line identification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46320" y="2478024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4846320" y="2478024"/>
            <a:ext cx="50292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4846320" y="2478024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4068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 Distribution &amp; Survivability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40680" y="28254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 vs FCNN comparison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282696"/>
            <a:ext cx="42062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4846320" y="3282696"/>
            <a:ext cx="50292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4846320" y="3282696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40680" y="33192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40680" y="36301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6-item roadmap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Background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114800" cy="41148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Motivation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faces frequent typhoon events causing widespread transmission outages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reliability assessment requires computationally expensive AC OPF solves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Not Served (ENS) quantification is critical for grid planning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outage data from Taiwan Power Company (Taipower) integrated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typhoon events analyzed: Danas, Kong-rey, Gaemi, Krathon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206240" cy="173736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rapidly estimate ENS across thousands of outage scenarios without re-running full AC OPF every time?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78892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4663440" y="2788920"/>
            <a:ext cx="73152" cy="192024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800600" y="2880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Typhoon Impact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324612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major events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FOR in Kong-rey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33,214 scenarios generated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278892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858000" y="2788920"/>
            <a:ext cx="73152" cy="192024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995160" y="28803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Computation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324612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33,600 OPF runs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weekly samples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convergence rate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48640" cy="19202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548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32688" y="97840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Monte Carlo OPF Dataset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32688" y="1344168"/>
            <a:ext cx="324612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32688" y="146304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33,600 AC OPF solutions across 200 weekly scenarios integrating real typhoon hazard data from Taipower records.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709160" y="868680"/>
            <a:ext cx="548640" cy="19202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868680"/>
            <a:ext cx="548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67528" y="97840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FCNN Surrogate Model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67528" y="1344168"/>
            <a:ext cx="324612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367528" y="146304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Fully Connected Neural Network achieving R² ≥ 0.99 for fast ENS prediction without repeated OPF computation.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548640" cy="19202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274320" y="2971800"/>
            <a:ext cx="548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" y="30815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Line Identification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2688" y="3447288"/>
            <a:ext cx="324612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932688" y="356616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vulnerable transmission lines by outage frequency and ENS contribution (ΔENS analysis).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97180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548640" cy="19202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4709160" y="2971800"/>
            <a:ext cx="548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67528" y="30815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Survivability Assessment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67528" y="3447288"/>
            <a:ext cx="324612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367528" y="356616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OPF vs FCNN survivability curves at multiple demand thresholds (0.6–1.0 pu), per typhoon scenario.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1645920" y="210312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920240" y="16459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920240" y="27889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Rexplan</a:t>
            </a: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pipeline: Julia (PowerModels.jl) + Python (</a:t>
            </a:r>
            <a:r>
              <a:rPr lang="en-US" sz="1400" dirty="0" err="1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FAC628E-7CF7-97F0-A735-D21842CDEEB9}"/>
              </a:ext>
            </a:extLst>
          </p:cNvPr>
          <p:cNvSpPr/>
          <p:nvPr/>
        </p:nvSpPr>
        <p:spPr>
          <a:xfrm>
            <a:off x="110196" y="4114800"/>
            <a:ext cx="914399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References:</a:t>
            </a:r>
          </a:p>
          <a:p>
            <a:pPr marL="342900" indent="-342900">
              <a:buAutoNum type="arabicPeriod"/>
            </a:pPr>
            <a:r>
              <a:rPr lang="en-US" altLang="zh-TW" sz="1400" dirty="0" err="1">
                <a:solidFill>
                  <a:schemeClr val="bg1"/>
                </a:solidFill>
              </a:rPr>
              <a:t>reXplan</a:t>
            </a:r>
            <a:r>
              <a:rPr lang="en-US" altLang="zh-TW" sz="1400" dirty="0">
                <a:solidFill>
                  <a:schemeClr val="bg1"/>
                </a:solidFill>
              </a:rPr>
              <a:t> Project Team, </a:t>
            </a:r>
            <a:r>
              <a:rPr lang="en-US" altLang="zh-TW" sz="1400" i="1" dirty="0">
                <a:solidFill>
                  <a:schemeClr val="bg1"/>
                </a:solidFill>
              </a:rPr>
              <a:t>“</a:t>
            </a:r>
            <a:r>
              <a:rPr lang="en-US" altLang="zh-TW" sz="1400" i="1" dirty="0" err="1">
                <a:solidFill>
                  <a:schemeClr val="bg1"/>
                </a:solidFill>
              </a:rPr>
              <a:t>reXplan</a:t>
            </a:r>
            <a:r>
              <a:rPr lang="en-US" altLang="zh-TW" sz="1400" i="1" dirty="0">
                <a:solidFill>
                  <a:schemeClr val="bg1"/>
                </a:solidFill>
              </a:rPr>
              <a:t>-repo”</a:t>
            </a:r>
            <a:r>
              <a:rPr lang="en-US" altLang="zh-TW" sz="1400" dirty="0">
                <a:solidFill>
                  <a:schemeClr val="bg1"/>
                </a:solidFill>
              </a:rPr>
              <a:t>, GitHub repository. Available: </a:t>
            </a:r>
            <a:r>
              <a:rPr lang="en-US" altLang="zh-TW" sz="1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https://github.com/reXplan-project/reXplan-repo</a:t>
            </a:r>
            <a:endParaRPr lang="en-US" altLang="zh-TW" sz="14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altLang="zh-TW" sz="1400" dirty="0">
                <a:solidFill>
                  <a:schemeClr val="bg1"/>
                </a:solidFill>
              </a:rPr>
              <a:t>M. Cosovic, </a:t>
            </a:r>
            <a:r>
              <a:rPr lang="en-US" altLang="zh-TW" sz="1400" i="1" dirty="0">
                <a:solidFill>
                  <a:schemeClr val="bg1"/>
                </a:solidFill>
              </a:rPr>
              <a:t>“</a:t>
            </a:r>
            <a:r>
              <a:rPr lang="en-US" altLang="zh-TW" sz="1400" i="1" dirty="0" err="1">
                <a:solidFill>
                  <a:schemeClr val="bg1"/>
                </a:solidFill>
              </a:rPr>
              <a:t>JuliaGrid.jl</a:t>
            </a:r>
            <a:r>
              <a:rPr lang="en-US" altLang="zh-TW" sz="1400" i="1" dirty="0">
                <a:solidFill>
                  <a:schemeClr val="bg1"/>
                </a:solidFill>
              </a:rPr>
              <a:t> – Optimal Power Flow API”</a:t>
            </a:r>
            <a:r>
              <a:rPr lang="en-US" altLang="zh-TW" sz="1400" dirty="0">
                <a:solidFill>
                  <a:schemeClr val="bg1"/>
                </a:solidFill>
              </a:rPr>
              <a:t>, Documentation. Available: </a:t>
            </a:r>
            <a:r>
              <a:rPr lang="en-US" altLang="zh-TW" sz="1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https://mcosovic.github.io/JuliaGrid.jl/dev/api/optimalPowerFlow/</a:t>
            </a:r>
            <a:endParaRPr lang="en-US" altLang="zh-TW" sz="14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Two-Stage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463040" cy="128016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28600" y="10058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costs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Typhoon FOR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1490472"/>
            <a:ext cx="27432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828800" y="13533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65960" y="960120"/>
            <a:ext cx="1463040" cy="128016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965960" y="10058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 (Julia)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samples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hrs each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29000" y="1490472"/>
            <a:ext cx="27432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566160" y="13533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03320" y="960120"/>
            <a:ext cx="1463040" cy="128016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703320" y="10058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33,214 rows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features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ENS target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66360" y="1490472"/>
            <a:ext cx="27432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5303520" y="13533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40680" y="960120"/>
            <a:ext cx="1463040" cy="128016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440680" y="10058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(Python)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epochs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3720" y="1490472"/>
            <a:ext cx="27432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7040880" y="135331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78040" y="960120"/>
            <a:ext cx="1463040" cy="1280160"/>
          </a:xfrm>
          <a:prstGeom prst="rect">
            <a:avLst/>
          </a:prstGeom>
          <a:solidFill>
            <a:srgbClr val="1A6B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7178040" y="10058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0.9994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0.50 MW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7804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468880"/>
            <a:ext cx="8686800" cy="32004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20040" y="2468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 Pipeline Instead of reXplan?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8600" y="288036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228600" y="2880360"/>
            <a:ext cx="54864" cy="9144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36576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Incompatibility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320040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reXplan uses European network formats; Taiwan-specific data (NTD cost curves, Taipower FOR) required custom handling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88036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4663440" y="2880360"/>
            <a:ext cx="54864" cy="9144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480060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OPF Control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320040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use of PowerModels.jl enables custom fictitious generators, VOLL parameterization, and load shedding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393192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228600" y="3931920"/>
            <a:ext cx="54864" cy="9144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365760" y="3977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FCNN Contribution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42519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reXplan does not support standalone FCNN surrogates trained on custom Monte Carlo datasets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931920"/>
            <a:ext cx="4206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2"/>
          <p:cNvSpPr/>
          <p:nvPr/>
        </p:nvSpPr>
        <p:spPr>
          <a:xfrm>
            <a:off x="4663440" y="3931920"/>
            <a:ext cx="54864" cy="9144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/>
          <p:nvPr/>
        </p:nvSpPr>
        <p:spPr>
          <a:xfrm>
            <a:off x="4800600" y="3977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Reproducibility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00600" y="42519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14-bus is an internationally standard benchmark enabling direct literature comparison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1645920" y="210312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920240" y="16459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Description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920240" y="3017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14-Bus Test System &amp; Generator Data from </a:t>
            </a:r>
            <a:r>
              <a:rPr lang="en-US" sz="1400" dirty="0" err="1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Taipower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14-Bus System &amp; Generator Configuration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36576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3657600" cy="384048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Specifications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1188720" cy="34747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Buses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64208" y="139903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in the network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1188720" cy="34747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65760" y="184708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Branches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64208" y="18745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lines &amp; transformers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1188720" cy="34747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3225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Generators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64208" y="235000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buses 1, 2, 3, 6, 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798064"/>
            <a:ext cx="1188720" cy="34747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79806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Load Buses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64208" y="2825496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 2,3,4,5,6,9,10,11,12,13,14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73552"/>
            <a:ext cx="1188720" cy="34747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65760" y="32735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 MW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64208" y="3300984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base load (100 MVA base)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1188720" cy="34747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65760" y="37490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OPF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64208" y="377647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ACPPowerModel via PowerModels.jl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224528"/>
            <a:ext cx="1188720" cy="347472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365760" y="42245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= 42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64208" y="425196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reproducibility guaranteed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60520" y="868680"/>
            <a:ext cx="47091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4160520" y="868680"/>
            <a:ext cx="4709160" cy="384048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297680" y="86868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Data — Real Taipower Cost Curves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60520" y="1353312"/>
            <a:ext cx="4709160" cy="475488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4251960" y="140817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14081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0" y="140817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Pmax (MW)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1408176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140817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60520" y="1883664"/>
            <a:ext cx="47091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4251960" y="19385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19385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0" y="193852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332.4 MW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80760" y="193852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1.87 NTD/MWh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0" y="1938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協和 #3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60520" y="2414016"/>
            <a:ext cx="4709160" cy="475488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4251960" y="24688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12080" y="24688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140.0 MW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80760" y="246888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2.20 NTD/MWh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132320" y="24688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協和 #4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60520" y="2944368"/>
            <a:ext cx="47091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4251960" y="29992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29992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12080" y="29992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 MW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080760" y="299923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2.94 NTD/MWh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132320" y="299923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林口 #1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160520" y="3474720"/>
            <a:ext cx="4709160" cy="475488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6"/>
          <p:cNvSpPr/>
          <p:nvPr/>
        </p:nvSpPr>
        <p:spPr>
          <a:xfrm>
            <a:off x="4251960" y="352958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754880" y="35295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212080" y="352958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 MW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080760" y="352958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 NTD/MWh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132320" y="3529584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林口 #2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160520" y="4005072"/>
            <a:ext cx="470916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4" name="Text 62"/>
          <p:cNvSpPr/>
          <p:nvPr/>
        </p:nvSpPr>
        <p:spPr>
          <a:xfrm>
            <a:off x="4251960" y="405993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5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754880" y="405993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212080" y="405993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 MW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080760" y="4059936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3.09 NTD/MWh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132320" y="4059936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林口 #3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251960" y="4572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C(P) = a·P² + b·P + c  (NTD/hr)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74319" y="1371600"/>
            <a:ext cx="152433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1645920" y="210312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920240" y="16459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OPF Simulation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920240" y="3017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33,600 AC OPF runs · 200 weekly scenarios · 4 typhoon events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OPF — Simulation Parameters &amp; Typhoon Hazard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206240" cy="384048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Parameters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4206240" cy="40233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84048" y="139903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(N)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13990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weekly scenarios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783080"/>
            <a:ext cx="42062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84048" y="18288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Hours/sample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18288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h (7 days × 24 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212848"/>
            <a:ext cx="4206240" cy="40233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84048" y="225856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OPF runs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225856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33,600 — all converged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642616"/>
            <a:ext cx="42062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84048" y="268833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Typhoon share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268833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(50 samples)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072384"/>
            <a:ext cx="4206240" cy="40233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84048" y="311810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31181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OPF (ACPPowerModel)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02152"/>
            <a:ext cx="42062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84048" y="354787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354787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Ipopt — interior-point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931920"/>
            <a:ext cx="4206240" cy="402336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384048" y="397764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31720" y="397764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±5% Gaussian noise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361688"/>
            <a:ext cx="42062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384048" y="440740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31720" y="440740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(reproducible)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868680"/>
            <a:ext cx="41605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4709160" y="868680"/>
            <a:ext cx="4160520" cy="384048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4846320" y="8686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Typhoon Hazard Data (Taipower Records)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09160" y="1353312"/>
            <a:ext cx="4160520" cy="475488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4800600" y="140817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Typhoon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1408176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03720" y="1408176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89520" y="1408176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(%)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1883664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4800600" y="19385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丹娜絲 Danas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193852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03720" y="193852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89520" y="193852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2414016"/>
            <a:ext cx="4160520" cy="475488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4800600" y="246888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康芮 Kong-rey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63640" y="246888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03720" y="24688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589520" y="246888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09160" y="2944368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4800600" y="29992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凱米 Gaemi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63640" y="299923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03720" y="299923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589520" y="299923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09160" y="3474720"/>
            <a:ext cx="4160520" cy="475488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5"/>
          <p:cNvSpPr/>
          <p:nvPr/>
        </p:nvSpPr>
        <p:spPr>
          <a:xfrm>
            <a:off x="4800600" y="352958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小犬 Krathon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63640" y="352958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903720" y="3529584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589520" y="3529584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09160" y="4005072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Text 60"/>
          <p:cNvSpPr/>
          <p:nvPr/>
        </p:nvSpPr>
        <p:spPr>
          <a:xfrm>
            <a:off x="4800600" y="405993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avg.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263640" y="4059936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903720" y="4059936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589520" y="4059936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51.9%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800600" y="4572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Kong-rey = most severe; Gaemi = least severe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OPF — Key Results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1920240" cy="1234440"/>
          </a:xfrm>
          <a:prstGeom prst="rect">
            <a:avLst/>
          </a:prstGeom>
          <a:solidFill>
            <a:srgbClr val="1A3A6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19202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54762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MWh/week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 (All Scenarios)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868680"/>
            <a:ext cx="1920240" cy="1234440"/>
          </a:xfrm>
          <a:prstGeom prst="rect">
            <a:avLst/>
          </a:prstGeom>
          <a:solidFill>
            <a:srgbClr val="1A3A6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331720" y="960120"/>
            <a:ext cx="19202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5,579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31720" y="154762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MWh/week (+22.6%)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Typhoon EENS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868680"/>
            <a:ext cx="1920240" cy="1234440"/>
          </a:xfrm>
          <a:prstGeom prst="rect">
            <a:avLst/>
          </a:prstGeom>
          <a:solidFill>
            <a:srgbClr val="1A3A6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389120" y="960120"/>
            <a:ext cx="192024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4,549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89120" y="154762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MWh/week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EENS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46520" y="868680"/>
            <a:ext cx="2423160" cy="1234440"/>
          </a:xfrm>
          <a:prstGeom prst="rect">
            <a:avLst/>
          </a:prstGeom>
          <a:solidFill>
            <a:srgbClr val="1A3A6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446520" y="960120"/>
            <a:ext cx="242316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200/200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46520" y="154762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(100%)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46520" y="1783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240280"/>
            <a:ext cx="859536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274320" y="2240280"/>
            <a:ext cx="8595360" cy="384048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11480" y="22402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Summary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2697480"/>
            <a:ext cx="8595360" cy="329184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84048" y="273405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27340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27340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044952"/>
            <a:ext cx="85953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84048" y="30815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 — all samples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0" y="30815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4,806.55 MWh/week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3081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over 200 scenarios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392424"/>
            <a:ext cx="8595360" cy="329184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384048" y="34290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0" y="34290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4,564.85 MWh/week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3429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under typhoon conditions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739896"/>
            <a:ext cx="85953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384048" y="37764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 — baseline scenarios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0" y="37764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4,549.18 MWh/week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37764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 (150 samples)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087368"/>
            <a:ext cx="8595360" cy="329184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384048" y="41239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 — typhoon scenarios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74720" y="41239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5,578.65 MWh/week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0" y="4123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typhoon share (50 samples)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4434840"/>
            <a:ext cx="85953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384048" y="44714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 ENS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474720" y="44714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 / 16,770.78 MWh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0" y="44714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week vs worst week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74319" y="1371600"/>
            <a:ext cx="1574577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1645920" y="210312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920240" y="16459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Neural Network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920240" y="3017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model for fast ENS prediction — R² = 0.9994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FCNN — Architecture &amp; Input Features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114800" cy="384048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Architecture (53,441 parameters)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4114800" cy="475488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84048" y="14173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14173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64208" y="141732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14173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883664"/>
            <a:ext cx="41148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84048" y="194767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194767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64208" y="194767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19476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Dropout 0.2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414016"/>
            <a:ext cx="4114800" cy="475488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384048" y="247802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" y="247802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64208" y="247802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31720" y="247802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Dropout 0.2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44368"/>
            <a:ext cx="41148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84048" y="30083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" y="30083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64208" y="300837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30083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Dropout 0.2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474720"/>
            <a:ext cx="4114800" cy="475488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84048" y="353872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" y="35387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64208" y="353872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331720" y="35387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Dropout 0.2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005072"/>
            <a:ext cx="4114800" cy="47548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384048" y="40690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40690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64208" y="40690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31720" y="40690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868680"/>
            <a:ext cx="42062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4663440" y="868680"/>
            <a:ext cx="4206240" cy="384048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4800600" y="8686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 Groups (35 total)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54880" y="13533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Demand per bus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62057" y="1353312"/>
            <a:ext cx="88174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89520" y="13533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power demand at each load bus (MW)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54880" y="17007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Line status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62541" y="1673352"/>
            <a:ext cx="78125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features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589520" y="170078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1 = in service, 0 = outage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54880" y="204825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Temporal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2541" y="2020824"/>
            <a:ext cx="78125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features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589520" y="20482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 (0–23) &amp; day of week (0–6)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54880" y="23957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Scenario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62541" y="2295144"/>
            <a:ext cx="78125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features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589520" y="239572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is_typhoon flag + forced outage rate (FOR)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663440" y="2926080"/>
            <a:ext cx="420624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3"/>
          <p:cNvSpPr/>
          <p:nvPr/>
        </p:nvSpPr>
        <p:spPr>
          <a:xfrm>
            <a:off x="4663440" y="2926080"/>
            <a:ext cx="4206240" cy="384048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4"/>
          <p:cNvSpPr/>
          <p:nvPr/>
        </p:nvSpPr>
        <p:spPr>
          <a:xfrm>
            <a:off x="4800600" y="2926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800600" y="34015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99632" y="340156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(Python 3.10)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00600" y="37398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199632" y="373989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 = 1×10⁻³)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800600" y="40782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Scheduler: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199632" y="407822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(patience=10, factor=0.5)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800600" y="44165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/ Batch: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199632" y="441655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epochs, batch size 256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FCNN — Model Performance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4625DC2A-8306-B5CD-375E-D173ABDF5D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717" y="1276141"/>
            <a:ext cx="8100479" cy="3119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5CCD0-0D3A-5E8E-0753-4C26844B4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27C718-D859-4A83-8DD7-5C77C0BEDD06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6D21C5-0468-3433-2657-3ECCC57903E5}"/>
              </a:ext>
            </a:extLst>
          </p:cNvPr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3F2BC1-2E1D-0832-6512-AA28E03CFF94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FCNN — Model Performance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F1F8295-CF4F-C41E-D749-EA1B81B7C745}"/>
              </a:ext>
            </a:extLst>
          </p:cNvPr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8D2222D-7CAC-F8AD-B073-0EDA614366FB}"/>
              </a:ext>
            </a:extLst>
          </p:cNvPr>
          <p:cNvSpPr/>
          <p:nvPr/>
        </p:nvSpPr>
        <p:spPr>
          <a:xfrm>
            <a:off x="274320" y="868680"/>
            <a:ext cx="2011680" cy="1371600"/>
          </a:xfrm>
          <a:prstGeom prst="rect">
            <a:avLst/>
          </a:prstGeom>
          <a:solidFill>
            <a:srgbClr val="1A3A6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FA6F834-6F4C-8333-3DF1-797A807D53B6}"/>
              </a:ext>
            </a:extLst>
          </p:cNvPr>
          <p:cNvSpPr/>
          <p:nvPr/>
        </p:nvSpPr>
        <p:spPr>
          <a:xfrm>
            <a:off x="274320" y="960120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0.9994</a:t>
            </a:r>
            <a:endParaRPr lang="en-US" sz="2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71F0C27-DE26-433E-856A-7C54B97C51C7}"/>
              </a:ext>
            </a:extLst>
          </p:cNvPr>
          <p:cNvSpPr/>
          <p:nvPr/>
        </p:nvSpPr>
        <p:spPr>
          <a:xfrm>
            <a:off x="274320" y="16230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99.94% variance explained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4C9862E-0492-B424-1AAD-39ADB05ED213}"/>
              </a:ext>
            </a:extLst>
          </p:cNvPr>
          <p:cNvSpPr/>
          <p:nvPr/>
        </p:nvSpPr>
        <p:spPr>
          <a:xfrm>
            <a:off x="27432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20F8A5A-4B6A-6103-6CEC-BC936245B08D}"/>
              </a:ext>
            </a:extLst>
          </p:cNvPr>
          <p:cNvSpPr/>
          <p:nvPr/>
        </p:nvSpPr>
        <p:spPr>
          <a:xfrm>
            <a:off x="2423160" y="868680"/>
            <a:ext cx="2011680" cy="1371600"/>
          </a:xfrm>
          <a:prstGeom prst="rect">
            <a:avLst/>
          </a:prstGeom>
          <a:solidFill>
            <a:srgbClr val="1A3A6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E43200D-7217-2B4C-8FCF-2F60E04CDCD3}"/>
              </a:ext>
            </a:extLst>
          </p:cNvPr>
          <p:cNvSpPr/>
          <p:nvPr/>
        </p:nvSpPr>
        <p:spPr>
          <a:xfrm>
            <a:off x="2423160" y="960120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MW</a:t>
            </a:r>
            <a:endParaRPr lang="en-US" sz="2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A6EC112-409A-8AE0-851C-089FB9705061}"/>
              </a:ext>
            </a:extLst>
          </p:cNvPr>
          <p:cNvSpPr/>
          <p:nvPr/>
        </p:nvSpPr>
        <p:spPr>
          <a:xfrm>
            <a:off x="2423160" y="16230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4A1DAB9-48E0-C113-55F1-640C7F541FC0}"/>
              </a:ext>
            </a:extLst>
          </p:cNvPr>
          <p:cNvSpPr/>
          <p:nvPr/>
        </p:nvSpPr>
        <p:spPr>
          <a:xfrm>
            <a:off x="242316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78C295A-A585-AABF-7184-67D558300212}"/>
              </a:ext>
            </a:extLst>
          </p:cNvPr>
          <p:cNvSpPr/>
          <p:nvPr/>
        </p:nvSpPr>
        <p:spPr>
          <a:xfrm>
            <a:off x="4526280" y="868680"/>
            <a:ext cx="2011680" cy="1371600"/>
          </a:xfrm>
          <a:prstGeom prst="rect">
            <a:avLst/>
          </a:prstGeom>
          <a:solidFill>
            <a:srgbClr val="1A3A6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4D29FF2-26F1-8131-9084-32E7BCCAB5F0}"/>
              </a:ext>
            </a:extLst>
          </p:cNvPr>
          <p:cNvSpPr/>
          <p:nvPr/>
        </p:nvSpPr>
        <p:spPr>
          <a:xfrm>
            <a:off x="4526280" y="960120"/>
            <a:ext cx="20116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 MW</a:t>
            </a:r>
            <a:endParaRPr lang="en-US" sz="2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4FA4C5B-DA48-10DA-CEAF-B871D87FA425}"/>
              </a:ext>
            </a:extLst>
          </p:cNvPr>
          <p:cNvSpPr/>
          <p:nvPr/>
        </p:nvSpPr>
        <p:spPr>
          <a:xfrm>
            <a:off x="4526280" y="16230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ENS range 0–152 MW</a:t>
            </a:r>
            <a:endParaRPr lang="en-US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07047CD-7222-57E8-5F23-3D3FE51D0DA2}"/>
              </a:ext>
            </a:extLst>
          </p:cNvPr>
          <p:cNvSpPr/>
          <p:nvPr/>
        </p:nvSpPr>
        <p:spPr>
          <a:xfrm>
            <a:off x="452628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575B349-C38F-3205-94E4-69DF34B3CDC6}"/>
              </a:ext>
            </a:extLst>
          </p:cNvPr>
          <p:cNvSpPr/>
          <p:nvPr/>
        </p:nvSpPr>
        <p:spPr>
          <a:xfrm>
            <a:off x="6629400" y="868680"/>
            <a:ext cx="2240280" cy="1371600"/>
          </a:xfrm>
          <a:prstGeom prst="rect">
            <a:avLst/>
          </a:prstGeom>
          <a:solidFill>
            <a:srgbClr val="1A3A6B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A67CBDD-3F1B-5F86-C62F-6F4BC86F6A39}"/>
              </a:ext>
            </a:extLst>
          </p:cNvPr>
          <p:cNvSpPr/>
          <p:nvPr/>
        </p:nvSpPr>
        <p:spPr>
          <a:xfrm>
            <a:off x="6629400" y="960120"/>
            <a:ext cx="224028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200/200</a:t>
            </a:r>
            <a:endParaRPr lang="en-US" sz="2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6F8214B-595C-86BB-4188-92ACFD332A7E}"/>
              </a:ext>
            </a:extLst>
          </p:cNvPr>
          <p:cNvSpPr/>
          <p:nvPr/>
        </p:nvSpPr>
        <p:spPr>
          <a:xfrm>
            <a:off x="6629400" y="16230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 samples converged</a:t>
            </a: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77A35AE-E8A3-3F9D-4589-E09CD4A80A0E}"/>
              </a:ext>
            </a:extLst>
          </p:cNvPr>
          <p:cNvSpPr/>
          <p:nvPr/>
        </p:nvSpPr>
        <p:spPr>
          <a:xfrm>
            <a:off x="6629400" y="19202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4081215-A527-37FF-4A52-4DCF41E69AD8}"/>
              </a:ext>
            </a:extLst>
          </p:cNvPr>
          <p:cNvSpPr/>
          <p:nvPr/>
        </p:nvSpPr>
        <p:spPr>
          <a:xfrm>
            <a:off x="274320" y="2377440"/>
            <a:ext cx="859536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201C032-7CFE-E4B1-0885-4DC46128D6D0}"/>
              </a:ext>
            </a:extLst>
          </p:cNvPr>
          <p:cNvSpPr/>
          <p:nvPr/>
        </p:nvSpPr>
        <p:spPr>
          <a:xfrm>
            <a:off x="274320" y="2377440"/>
            <a:ext cx="8595360" cy="384048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F69844A-457C-5954-377A-386390585958}"/>
              </a:ext>
            </a:extLst>
          </p:cNvPr>
          <p:cNvSpPr/>
          <p:nvPr/>
        </p:nvSpPr>
        <p:spPr>
          <a:xfrm>
            <a:off x="411480" y="2377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 Statistical Comparison — OPF vs FCNN (Test Set: 3,322 Scenarios)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56870B1-810C-4657-AA86-327F2C3CDE0F}"/>
              </a:ext>
            </a:extLst>
          </p:cNvPr>
          <p:cNvSpPr/>
          <p:nvPr/>
        </p:nvSpPr>
        <p:spPr>
          <a:xfrm>
            <a:off x="274320" y="2834640"/>
            <a:ext cx="8595360" cy="329184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1B75CC5-795E-3712-2F20-4A1154006A2F}"/>
              </a:ext>
            </a:extLst>
          </p:cNvPr>
          <p:cNvSpPr/>
          <p:nvPr/>
        </p:nvSpPr>
        <p:spPr>
          <a:xfrm>
            <a:off x="384048" y="28712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A910757-D02F-1EA9-C2CF-E1D2409BBA5F}"/>
              </a:ext>
            </a:extLst>
          </p:cNvPr>
          <p:cNvSpPr/>
          <p:nvPr/>
        </p:nvSpPr>
        <p:spPr>
          <a:xfrm>
            <a:off x="2560320" y="28712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 (Ground Truth)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0E90117-39E3-0147-B132-1AF4F2970B0B}"/>
              </a:ext>
            </a:extLst>
          </p:cNvPr>
          <p:cNvSpPr/>
          <p:nvPr/>
        </p:nvSpPr>
        <p:spPr>
          <a:xfrm>
            <a:off x="4709160" y="28712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FCNN Prediction</a:t>
            </a:r>
            <a:endParaRPr lang="en-US" sz="11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9E56A4E-3671-1108-76F6-942AFB4704D4}"/>
              </a:ext>
            </a:extLst>
          </p:cNvPr>
          <p:cNvSpPr/>
          <p:nvPr/>
        </p:nvSpPr>
        <p:spPr>
          <a:xfrm>
            <a:off x="6858000" y="28712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Difference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A238A40-D8AD-9FD2-4486-30ABBBB5EBE8}"/>
              </a:ext>
            </a:extLst>
          </p:cNvPr>
          <p:cNvSpPr/>
          <p:nvPr/>
        </p:nvSpPr>
        <p:spPr>
          <a:xfrm>
            <a:off x="274320" y="3182112"/>
            <a:ext cx="85953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DDAD398-28CB-EF82-74D4-ADCCD75ABFAF}"/>
              </a:ext>
            </a:extLst>
          </p:cNvPr>
          <p:cNvSpPr/>
          <p:nvPr/>
        </p:nvSpPr>
        <p:spPr>
          <a:xfrm>
            <a:off x="384048" y="32186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(MW)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FB5484F-E505-154C-7C00-E94CAA77CE95}"/>
              </a:ext>
            </a:extLst>
          </p:cNvPr>
          <p:cNvSpPr/>
          <p:nvPr/>
        </p:nvSpPr>
        <p:spPr>
          <a:xfrm>
            <a:off x="2560320" y="32186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28.30</a:t>
            </a:r>
            <a:endParaRPr lang="en-US" sz="11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F5FB9CE-9CBF-9598-23FA-9999A87A6F06}"/>
              </a:ext>
            </a:extLst>
          </p:cNvPr>
          <p:cNvSpPr/>
          <p:nvPr/>
        </p:nvSpPr>
        <p:spPr>
          <a:xfrm>
            <a:off x="4709160" y="32186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28.43</a:t>
            </a: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FC09CC3-3D02-81F9-D284-E56F4C4A7DE8}"/>
              </a:ext>
            </a:extLst>
          </p:cNvPr>
          <p:cNvSpPr/>
          <p:nvPr/>
        </p:nvSpPr>
        <p:spPr>
          <a:xfrm>
            <a:off x="6858000" y="32186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0.46%</a:t>
            </a:r>
            <a:endParaRPr lang="en-US" sz="11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4271876-66C5-A4F7-5348-1E7721BE7D9D}"/>
              </a:ext>
            </a:extLst>
          </p:cNvPr>
          <p:cNvSpPr/>
          <p:nvPr/>
        </p:nvSpPr>
        <p:spPr>
          <a:xfrm>
            <a:off x="274320" y="3529584"/>
            <a:ext cx="8595360" cy="329184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9B3E1C5-39C0-FDD5-3F89-DF783C44A540}"/>
              </a:ext>
            </a:extLst>
          </p:cNvPr>
          <p:cNvSpPr/>
          <p:nvPr/>
        </p:nvSpPr>
        <p:spPr>
          <a:xfrm>
            <a:off x="384048" y="35661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(MW)</a:t>
            </a:r>
            <a:endParaRPr lang="en-US" sz="1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0DACFF8-7F0D-E689-2B96-39BCA5D6E4C6}"/>
              </a:ext>
            </a:extLst>
          </p:cNvPr>
          <p:cNvSpPr/>
          <p:nvPr/>
        </p:nvSpPr>
        <p:spPr>
          <a:xfrm>
            <a:off x="2560320" y="35661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15.87</a:t>
            </a:r>
            <a:endParaRPr lang="en-US" sz="11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86CB445-B22F-2C31-7B94-6098F3BEB6F3}"/>
              </a:ext>
            </a:extLst>
          </p:cNvPr>
          <p:cNvSpPr/>
          <p:nvPr/>
        </p:nvSpPr>
        <p:spPr>
          <a:xfrm>
            <a:off x="4709160" y="35661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15.48</a:t>
            </a:r>
            <a:endParaRPr lang="en-US" sz="11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236AAA9-A5FA-EE36-B6D1-746F40D34599}"/>
              </a:ext>
            </a:extLst>
          </p:cNvPr>
          <p:cNvSpPr/>
          <p:nvPr/>
        </p:nvSpPr>
        <p:spPr>
          <a:xfrm>
            <a:off x="6858000" y="35661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2.46%</a:t>
            </a:r>
            <a:endParaRPr lang="en-US" sz="11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21AB2DC-8290-8543-E64E-80FDEEFF0C05}"/>
              </a:ext>
            </a:extLst>
          </p:cNvPr>
          <p:cNvSpPr/>
          <p:nvPr/>
        </p:nvSpPr>
        <p:spPr>
          <a:xfrm>
            <a:off x="274320" y="3877056"/>
            <a:ext cx="85953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A4DA22B-6637-1030-AB41-B384E946EB40}"/>
              </a:ext>
            </a:extLst>
          </p:cNvPr>
          <p:cNvSpPr/>
          <p:nvPr/>
        </p:nvSpPr>
        <p:spPr>
          <a:xfrm>
            <a:off x="384048" y="3913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Dev. (MW)</a:t>
            </a:r>
            <a:endParaRPr lang="en-US" sz="11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FC1BA363-F4F6-32E7-7882-141EDD7D245A}"/>
              </a:ext>
            </a:extLst>
          </p:cNvPr>
          <p:cNvSpPr/>
          <p:nvPr/>
        </p:nvSpPr>
        <p:spPr>
          <a:xfrm>
            <a:off x="2560320" y="3913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29.25</a:t>
            </a:r>
            <a:endParaRPr lang="en-US" sz="11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50324B89-DB62-5AAD-F300-38366F43E553}"/>
              </a:ext>
            </a:extLst>
          </p:cNvPr>
          <p:cNvSpPr/>
          <p:nvPr/>
        </p:nvSpPr>
        <p:spPr>
          <a:xfrm>
            <a:off x="4709160" y="39136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29.05</a:t>
            </a:r>
            <a:endParaRPr lang="en-US" sz="11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68B80080-3324-BF58-1CA8-4C4138E57074}"/>
              </a:ext>
            </a:extLst>
          </p:cNvPr>
          <p:cNvSpPr/>
          <p:nvPr/>
        </p:nvSpPr>
        <p:spPr>
          <a:xfrm>
            <a:off x="6858000" y="39136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0.68%</a:t>
            </a:r>
            <a:endParaRPr lang="en-US" sz="11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B332884F-75F7-C592-73E7-8C1AE31DDB7A}"/>
              </a:ext>
            </a:extLst>
          </p:cNvPr>
          <p:cNvSpPr/>
          <p:nvPr/>
        </p:nvSpPr>
        <p:spPr>
          <a:xfrm>
            <a:off x="274320" y="4224528"/>
            <a:ext cx="8595360" cy="329184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D0F2E99-F109-5A84-8F99-0B4FB57199EE}"/>
              </a:ext>
            </a:extLst>
          </p:cNvPr>
          <p:cNvSpPr/>
          <p:nvPr/>
        </p:nvSpPr>
        <p:spPr>
          <a:xfrm>
            <a:off x="384048" y="42611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11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F2688FC8-6801-1BD5-6590-3B67999884C2}"/>
              </a:ext>
            </a:extLst>
          </p:cNvPr>
          <p:cNvSpPr/>
          <p:nvPr/>
        </p:nvSpPr>
        <p:spPr>
          <a:xfrm>
            <a:off x="2560320" y="42611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1.173</a:t>
            </a:r>
            <a:endParaRPr lang="en-US" sz="11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B0C7A134-136C-B166-CF37-48B441CAE6E3}"/>
              </a:ext>
            </a:extLst>
          </p:cNvPr>
          <p:cNvSpPr/>
          <p:nvPr/>
        </p:nvSpPr>
        <p:spPr>
          <a:xfrm>
            <a:off x="4709160" y="42611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1.175</a:t>
            </a:r>
            <a:endParaRPr lang="en-US" sz="11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1AB6E32B-6767-5D34-00FF-CABAA9D2A434}"/>
              </a:ext>
            </a:extLst>
          </p:cNvPr>
          <p:cNvSpPr/>
          <p:nvPr/>
        </p:nvSpPr>
        <p:spPr>
          <a:xfrm>
            <a:off x="6858000" y="42611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0.17%</a:t>
            </a:r>
            <a:endParaRPr lang="en-US" sz="11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4DA932EA-F0BF-962C-4AE9-9B55D1F70F5B}"/>
              </a:ext>
            </a:extLst>
          </p:cNvPr>
          <p:cNvSpPr/>
          <p:nvPr/>
        </p:nvSpPr>
        <p:spPr>
          <a:xfrm>
            <a:off x="274320" y="4572000"/>
            <a:ext cx="85953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255D672A-A583-2074-7DFB-881B27B307B0}"/>
              </a:ext>
            </a:extLst>
          </p:cNvPr>
          <p:cNvSpPr/>
          <p:nvPr/>
        </p:nvSpPr>
        <p:spPr>
          <a:xfrm>
            <a:off x="384048" y="46085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11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CA6C9324-FAB5-ACFB-53EF-77A3C7E3E315}"/>
              </a:ext>
            </a:extLst>
          </p:cNvPr>
          <p:cNvSpPr/>
          <p:nvPr/>
        </p:nvSpPr>
        <p:spPr>
          <a:xfrm>
            <a:off x="2560320" y="46085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0.538</a:t>
            </a:r>
            <a:endParaRPr lang="en-US" sz="11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A41DD5A-FBE0-087A-8897-87844952D374}"/>
              </a:ext>
            </a:extLst>
          </p:cNvPr>
          <p:cNvSpPr/>
          <p:nvPr/>
        </p:nvSpPr>
        <p:spPr>
          <a:xfrm>
            <a:off x="4709160" y="46085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0.525</a:t>
            </a:r>
            <a:endParaRPr lang="en-US" sz="110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7BBF81E3-5307-B8CE-3A67-4B58656BCB01}"/>
              </a:ext>
            </a:extLst>
          </p:cNvPr>
          <p:cNvSpPr/>
          <p:nvPr/>
        </p:nvSpPr>
        <p:spPr>
          <a:xfrm>
            <a:off x="6858000" y="46085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2.42%</a:t>
            </a:r>
            <a:endParaRPr lang="en-US" sz="11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5AF39D45-BAF9-E994-6B9F-406D7D5C6938}"/>
              </a:ext>
            </a:extLst>
          </p:cNvPr>
          <p:cNvSpPr/>
          <p:nvPr/>
        </p:nvSpPr>
        <p:spPr>
          <a:xfrm>
            <a:off x="411480" y="46908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agreement across all 5 statistical metrics confirms FCNN fully captures the ENS distribution.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87395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Outage Analysis — Frequency &amp; ENS Contribution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160520" cy="384048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Most Frequent Outage Lines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1408176"/>
            <a:ext cx="1574597" cy="256032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991917" y="13716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57.4%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6916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19,066 hrs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0299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066544"/>
            <a:ext cx="1552651" cy="256032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969971" y="20299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350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18,801 hrs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6883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2724912"/>
            <a:ext cx="1486814" cy="256032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904134" y="268833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54.2%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0083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18,011 hrs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3467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0" y="3383280"/>
            <a:ext cx="1481328" cy="256032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2898648" y="334670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6667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17,944 hrs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0050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71600" y="4041648"/>
            <a:ext cx="1478585" cy="256032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2895905" y="40050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53.9%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43251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17,891 hrs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868680"/>
            <a:ext cx="41605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4709160" y="868680"/>
            <a:ext cx="4160520" cy="384048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846320" y="8686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Most Critical Lines by ΔENS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28032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60720" y="1408176"/>
            <a:ext cx="2493358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8299798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+18.99 MW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1691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38.61 MW when out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28032" y="20299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760720" y="2066544"/>
            <a:ext cx="2245204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8051644" y="20299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+17.10 MW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28032" y="2350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37.94 MW when out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28032" y="26883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9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760720" y="2724912"/>
            <a:ext cx="2045630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7852070" y="268833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+15.58 MW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28032" y="30083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36.49 MW when out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28032" y="33467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760720" y="3383280"/>
            <a:ext cx="1951095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7757535" y="334670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+14.86 MW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28032" y="36667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35.39 MW when out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28032" y="40050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7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760720" y="4041648"/>
            <a:ext cx="1944530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7750970" y="40050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+14.81 MW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28032" y="4325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36.48 MW when out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Survivability Analysis — OPF vs FCNN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Survivability at Key Demand Thresholds — OPF vs FCNN (3,322 scenarios)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8595360" cy="283464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84048" y="1344168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1344168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344168"/>
            <a:ext cx="1874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 Survivability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344168"/>
            <a:ext cx="1874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FCNN Survivability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23760" y="1344168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627632"/>
            <a:ext cx="859536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84048" y="1645920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pu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1645920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645920"/>
            <a:ext cx="1874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1645920"/>
            <a:ext cx="1874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23760" y="164592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Perfect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929384"/>
            <a:ext cx="8595360" cy="283464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84048" y="1947672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 pu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1947672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1947672"/>
            <a:ext cx="1874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0" y="1947672"/>
            <a:ext cx="1874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1947672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Perfect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231136"/>
            <a:ext cx="859536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384048" y="2249424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 pu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0" y="2249424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2249424"/>
            <a:ext cx="1874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0" y="2249424"/>
            <a:ext cx="1874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2249424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Perfect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2532888"/>
            <a:ext cx="8595360" cy="283464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384048" y="2551176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 pu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28800" y="2551176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83280" y="2551176"/>
            <a:ext cx="1874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2551176"/>
            <a:ext cx="1874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23760" y="2551176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Perfect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2834640"/>
            <a:ext cx="859536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384048" y="2852928"/>
            <a:ext cx="1417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pu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28800" y="2852928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83280" y="2852928"/>
            <a:ext cx="1874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03520" y="2852928"/>
            <a:ext cx="1874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23760" y="2852928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Perfect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017520"/>
            <a:ext cx="8595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274320" y="3081528"/>
            <a:ext cx="8595360" cy="320040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411480" y="30175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Typhoon Scenario Severity Comparison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48640" y="4087368"/>
            <a:ext cx="1463040" cy="3200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548640" y="38130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35.0%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8640" y="44348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Gaemi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651760" y="3973068"/>
            <a:ext cx="1463040" cy="4343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2651760" y="36987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47.5%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651760" y="44348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Krathon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754880" y="3904488"/>
            <a:ext cx="1463040" cy="5029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4754880" y="36301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55.0%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754880" y="44348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858000" y="3767328"/>
            <a:ext cx="1463040" cy="6400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6"/>
          <p:cNvSpPr/>
          <p:nvPr/>
        </p:nvSpPr>
        <p:spPr>
          <a:xfrm>
            <a:off x="6858000" y="34930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858000" y="44348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Kong-rey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229600" y="38404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Outage Rate (FOR)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274319" y="1371600"/>
            <a:ext cx="1534383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1645920" y="210312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920240" y="16459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920240" y="3017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 and 6-item research roadmap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— Key Findings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85953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384048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Key Results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8595360" cy="283464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84048" y="13441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1344168"/>
            <a:ext cx="5669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627632"/>
            <a:ext cx="859536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84048" y="164592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EENS (all scenarios)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1645920"/>
            <a:ext cx="5669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4,806.55 MWh/week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929384"/>
            <a:ext cx="8595360" cy="283464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84048" y="194767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Typhoon vs Baseline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1947672"/>
            <a:ext cx="5669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5,578.65 vs 4,549.18 MWh/week → +22.6% under typhoon conditions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231136"/>
            <a:ext cx="859536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84048" y="224942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FCNN Performance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2249424"/>
            <a:ext cx="5669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0.9994 | MAE = 0.50 MW | RMSE = 0.69 MW — near-perfect accuracy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32888"/>
            <a:ext cx="8595360" cy="283464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84048" y="255117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Outage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2551176"/>
            <a:ext cx="5669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16 (57.4% of scenarios)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859536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84048" y="285292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Critical Line (ΔENS)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017520" y="2852928"/>
            <a:ext cx="5669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4 — ΔENS = +18.99 MW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136392"/>
            <a:ext cx="8595360" cy="283464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384048" y="315468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Survivability @ 0.9 pu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3154680"/>
            <a:ext cx="5669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54.7% (OPF = FCNN — perfect agreement)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1168" y="3474720"/>
            <a:ext cx="2743200" cy="16002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31" name="Text 29"/>
          <p:cNvSpPr/>
          <p:nvPr/>
        </p:nvSpPr>
        <p:spPr>
          <a:xfrm>
            <a:off x="201168" y="3464951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65760" y="37307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Pipeline Works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09651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Monte Carlo OPF + FCNN framework achieves near-perfect ENS prediction (R²=0.9994), enabling fast reliability assessment without repeated OPF runs.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9544" y="3474720"/>
            <a:ext cx="2743200" cy="16002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3200400" y="3453931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291840" y="37307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Typhoon Impact is Significant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91840" y="409651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Typhoon scenarios increase EENS by +22.6% vs baseline. Kong-rey (FOR 70%) shows the lowest survivability; Gaemi (FOR 35%) the highest.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08192" y="3438144"/>
            <a:ext cx="2743200" cy="16002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6208776" y="34107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217920" y="37307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FCNN = OPF Surrogate Verified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409651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OPF and FCNN survivability curves overlap perfectly at all demand thresholds (0.6–1.0 pu), confirming that FCNN fully preserves reliability characteristics.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503920" y="0"/>
            <a:ext cx="640080" cy="685800"/>
          </a:xfrm>
          <a:prstGeom prst="rect">
            <a:avLst/>
          </a:prstGeom>
          <a:solidFill>
            <a:srgbClr val="2A529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2743200" cy="438912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438912" cy="43891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28600" y="868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90525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Outage Analysis (Case 14)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399032"/>
            <a:ext cx="25603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dataset with generator status features (gen_bus1,2,3,6,8), expanding to 40 inputs. Retrain FCNN for joint line + generator reliability analysis.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36392" y="8686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136392" y="868680"/>
            <a:ext cx="2743200" cy="438912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136392" y="868680"/>
            <a:ext cx="438912" cy="43891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136392" y="868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39312" y="90525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Baseline FOR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27832" y="1399032"/>
            <a:ext cx="25603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non-typhoon historical outage data to establish representative baseline FOR (typically 2–10% for transmission lines), replacing the current typhoon-derived 51.9%.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44184" y="86868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044184" y="868680"/>
            <a:ext cx="2743200" cy="438912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044184" y="868680"/>
            <a:ext cx="438912" cy="43891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044184" y="868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47104" y="90525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Commitment Integration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35624" y="1399032"/>
            <a:ext cx="25603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Security-Constrained Unit Commitment (SCUC) model incorporating generator startup costs for more accurate total cost and dispatch estimation.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06324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228600" y="3063240"/>
            <a:ext cx="2743200" cy="438912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228600" y="3063240"/>
            <a:ext cx="438912" cy="43891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22860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309981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Monte Carlo Dataset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3593592"/>
            <a:ext cx="25603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samples from 200 to 1,000+ and add more typhoon events to improve EENS statistical robustness and FCNN generalization across rare extreme scenarios.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36392" y="306324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3136392" y="3063240"/>
            <a:ext cx="2743200" cy="438912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3136392" y="3063240"/>
            <a:ext cx="438912" cy="43891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3136392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39312" y="309981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Network Application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27832" y="3593592"/>
            <a:ext cx="25603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complete framework to a real Taiwanese network topology (Taipower grid) where generator assignments are physically meaningful, replacing the IEEE 14-bus benchmark.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44184" y="3063240"/>
            <a:ext cx="274320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6044184" y="3063240"/>
            <a:ext cx="2743200" cy="438912"/>
          </a:xfrm>
          <a:prstGeom prst="rect">
            <a:avLst/>
          </a:prstGeom>
          <a:solidFill>
            <a:srgbClr val="0D214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6044184" y="3063240"/>
            <a:ext cx="438912" cy="43891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6044184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547104" y="309981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reXplan FCNN Integration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35624" y="3593592"/>
            <a:ext cx="256032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FCNN surrogate component into reXplan's workflow, combining its robust spatiotemporal hazard modeling with the speed and accuracy of neural network ENS prediction.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8AC0CC9B-A870-127E-A0F4-35B7F2FFB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-65057" y="-500302"/>
            <a:ext cx="9209057" cy="614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8BD3652-E66F-A112-C663-C4B4AE752ED3}"/>
              </a:ext>
            </a:extLst>
          </p:cNvPr>
          <p:cNvSpPr/>
          <p:nvPr/>
        </p:nvSpPr>
        <p:spPr>
          <a:xfrm>
            <a:off x="-65057" y="-357338"/>
            <a:ext cx="9209058" cy="5858177"/>
          </a:xfrm>
          <a:prstGeom prst="rect">
            <a:avLst/>
          </a:prstGeom>
          <a:gradFill flip="none" rotWithShape="1">
            <a:gsLst>
              <a:gs pos="13000">
                <a:srgbClr val="14265E">
                  <a:alpha val="94000"/>
                </a:srgbClr>
              </a:gs>
              <a:gs pos="100000">
                <a:srgbClr val="002060">
                  <a:alpha val="66000"/>
                </a:srgbClr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9460" name="!!Freeform: Shape 19459">
            <a:extLst>
              <a:ext uri="{FF2B5EF4-FFF2-40B4-BE49-F238E27FC236}">
                <a16:creationId xmlns:a16="http://schemas.microsoft.com/office/drawing/2014/main" id="{36C7DCF8-6D9D-1589-B075-FEF89FE5571F}"/>
              </a:ext>
            </a:extLst>
          </p:cNvPr>
          <p:cNvSpPr/>
          <p:nvPr/>
        </p:nvSpPr>
        <p:spPr>
          <a:xfrm>
            <a:off x="-5911628" y="4547643"/>
            <a:ext cx="28162193" cy="8143669"/>
          </a:xfrm>
          <a:custGeom>
            <a:avLst/>
            <a:gdLst>
              <a:gd name="connsiteX0" fmla="*/ 5493304 w 16739706"/>
              <a:gd name="connsiteY0" fmla="*/ 0 h 7445338"/>
              <a:gd name="connsiteX1" fmla="*/ 5516807 w 16739706"/>
              <a:gd name="connsiteY1" fmla="*/ 0 h 7445338"/>
              <a:gd name="connsiteX2" fmla="*/ 12234181 w 16739706"/>
              <a:gd name="connsiteY2" fmla="*/ 0 h 7445338"/>
              <a:gd name="connsiteX3" fmla="*/ 16739706 w 16739706"/>
              <a:gd name="connsiteY3" fmla="*/ 0 h 7445338"/>
              <a:gd name="connsiteX4" fmla="*/ 16739706 w 16739706"/>
              <a:gd name="connsiteY4" fmla="*/ 1070962 h 7445338"/>
              <a:gd name="connsiteX5" fmla="*/ 16739706 w 16739706"/>
              <a:gd name="connsiteY5" fmla="*/ 6374377 h 7445338"/>
              <a:gd name="connsiteX6" fmla="*/ 16739706 w 16739706"/>
              <a:gd name="connsiteY6" fmla="*/ 7445338 h 7445338"/>
              <a:gd name="connsiteX7" fmla="*/ 0 w 16739706"/>
              <a:gd name="connsiteY7" fmla="*/ 7445338 h 7445338"/>
              <a:gd name="connsiteX8" fmla="*/ 0 w 16739706"/>
              <a:gd name="connsiteY8" fmla="*/ 1341356 h 7445338"/>
              <a:gd name="connsiteX9" fmla="*/ 0 w 16739706"/>
              <a:gd name="connsiteY9" fmla="*/ 1070962 h 7445338"/>
              <a:gd name="connsiteX10" fmla="*/ 0 w 16739706"/>
              <a:gd name="connsiteY10" fmla="*/ 857230 h 7445338"/>
              <a:gd name="connsiteX11" fmla="*/ 4367493 w 16739706"/>
              <a:gd name="connsiteY11" fmla="*/ 857230 h 7445338"/>
              <a:gd name="connsiteX12" fmla="*/ 4367493 w 16739706"/>
              <a:gd name="connsiteY12" fmla="*/ 851311 h 7445338"/>
              <a:gd name="connsiteX13" fmla="*/ 5131027 w 16739706"/>
              <a:gd name="connsiteY13" fmla="*/ 154916 h 7445338"/>
              <a:gd name="connsiteX14" fmla="*/ 5132847 w 16739706"/>
              <a:gd name="connsiteY14" fmla="*/ 153585 h 7445338"/>
              <a:gd name="connsiteX15" fmla="*/ 5138212 w 16739706"/>
              <a:gd name="connsiteY15" fmla="*/ 147084 h 7445338"/>
              <a:gd name="connsiteX16" fmla="*/ 5493304 w 16739706"/>
              <a:gd name="connsiteY16" fmla="*/ 0 h 7445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6739706" h="7445338">
                <a:moveTo>
                  <a:pt x="5493304" y="0"/>
                </a:moveTo>
                <a:lnTo>
                  <a:pt x="5516807" y="0"/>
                </a:lnTo>
                <a:lnTo>
                  <a:pt x="12234181" y="0"/>
                </a:lnTo>
                <a:lnTo>
                  <a:pt x="16739706" y="0"/>
                </a:lnTo>
                <a:lnTo>
                  <a:pt x="16739706" y="1070962"/>
                </a:lnTo>
                <a:lnTo>
                  <a:pt x="16739706" y="6374377"/>
                </a:lnTo>
                <a:lnTo>
                  <a:pt x="16739706" y="7445338"/>
                </a:lnTo>
                <a:lnTo>
                  <a:pt x="0" y="7445338"/>
                </a:lnTo>
                <a:lnTo>
                  <a:pt x="0" y="1341356"/>
                </a:lnTo>
                <a:lnTo>
                  <a:pt x="0" y="1070962"/>
                </a:lnTo>
                <a:lnTo>
                  <a:pt x="0" y="857230"/>
                </a:lnTo>
                <a:lnTo>
                  <a:pt x="4367493" y="857230"/>
                </a:lnTo>
                <a:lnTo>
                  <a:pt x="4367493" y="851311"/>
                </a:lnTo>
                <a:cubicBezTo>
                  <a:pt x="4769023" y="851311"/>
                  <a:pt x="4915676" y="342922"/>
                  <a:pt x="5131027" y="154916"/>
                </a:cubicBezTo>
                <a:lnTo>
                  <a:pt x="5132847" y="153585"/>
                </a:lnTo>
                <a:lnTo>
                  <a:pt x="5138212" y="147084"/>
                </a:lnTo>
                <a:cubicBezTo>
                  <a:pt x="5229086" y="56208"/>
                  <a:pt x="5354631" y="0"/>
                  <a:pt x="54933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258" name="!!Oval 9257">
            <a:extLst>
              <a:ext uri="{FF2B5EF4-FFF2-40B4-BE49-F238E27FC236}">
                <a16:creationId xmlns:a16="http://schemas.microsoft.com/office/drawing/2014/main" id="{108B51B6-308B-2F06-0E40-998B76DA291E}"/>
              </a:ext>
            </a:extLst>
          </p:cNvPr>
          <p:cNvSpPr/>
          <p:nvPr/>
        </p:nvSpPr>
        <p:spPr>
          <a:xfrm>
            <a:off x="5689223" y="1013794"/>
            <a:ext cx="2399033" cy="239903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5">
                <a:lumMod val="75000"/>
              </a:schemeClr>
            </a:solidFill>
          </a:ln>
          <a:effectLst>
            <a:outerShdw blurRad="228600" dist="139700" dir="3600000" algn="l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245" name="TextBox 9244">
            <a:extLst>
              <a:ext uri="{FF2B5EF4-FFF2-40B4-BE49-F238E27FC236}">
                <a16:creationId xmlns:a16="http://schemas.microsoft.com/office/drawing/2014/main" id="{B8FAB424-B7CF-8CEC-4685-CBFB1E8F4EBE}"/>
              </a:ext>
            </a:extLst>
          </p:cNvPr>
          <p:cNvSpPr txBox="1"/>
          <p:nvPr/>
        </p:nvSpPr>
        <p:spPr>
          <a:xfrm>
            <a:off x="1069263" y="1797812"/>
            <a:ext cx="397819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4950" b="1" dirty="0">
                <a:solidFill>
                  <a:prstClr val="white"/>
                </a:solidFill>
                <a:latin typeface="Albert Sans" pitchFamily="2" charset="0"/>
              </a:rPr>
              <a:t>Thank You</a:t>
            </a:r>
            <a:endParaRPr lang="en-US" sz="4950" b="1" dirty="0">
              <a:solidFill>
                <a:srgbClr val="FFFF00"/>
              </a:solidFill>
              <a:latin typeface="Albert Sans" pitchFamily="2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41622D6-475E-CAD9-0D71-8423369A8D5A}"/>
              </a:ext>
            </a:extLst>
          </p:cNvPr>
          <p:cNvSpPr/>
          <p:nvPr/>
        </p:nvSpPr>
        <p:spPr>
          <a:xfrm flipH="1" flipV="1">
            <a:off x="-1104330" y="-5634031"/>
            <a:ext cx="10819829" cy="6693036"/>
          </a:xfrm>
          <a:custGeom>
            <a:avLst/>
            <a:gdLst>
              <a:gd name="connsiteX0" fmla="*/ 14426439 w 14426439"/>
              <a:gd name="connsiteY0" fmla="*/ 8924048 h 8924048"/>
              <a:gd name="connsiteX1" fmla="*/ 0 w 14426439"/>
              <a:gd name="connsiteY1" fmla="*/ 8924048 h 8924048"/>
              <a:gd name="connsiteX2" fmla="*/ 0 w 14426439"/>
              <a:gd name="connsiteY2" fmla="*/ 1607761 h 8924048"/>
              <a:gd name="connsiteX3" fmla="*/ 0 w 14426439"/>
              <a:gd name="connsiteY3" fmla="*/ 1283665 h 8924048"/>
              <a:gd name="connsiteX4" fmla="*/ 0 w 14426439"/>
              <a:gd name="connsiteY4" fmla="*/ 1027483 h 8924048"/>
              <a:gd name="connsiteX5" fmla="*/ 9453972 w 14426439"/>
              <a:gd name="connsiteY5" fmla="*/ 1027483 h 8924048"/>
              <a:gd name="connsiteX6" fmla="*/ 9453972 w 14426439"/>
              <a:gd name="connsiteY6" fmla="*/ 1020389 h 8924048"/>
              <a:gd name="connsiteX7" fmla="*/ 11106735 w 14426439"/>
              <a:gd name="connsiteY7" fmla="*/ 185684 h 8924048"/>
              <a:gd name="connsiteX8" fmla="*/ 11110674 w 14426439"/>
              <a:gd name="connsiteY8" fmla="*/ 184088 h 8924048"/>
              <a:gd name="connsiteX9" fmla="*/ 11122288 w 14426439"/>
              <a:gd name="connsiteY9" fmla="*/ 176296 h 8924048"/>
              <a:gd name="connsiteX10" fmla="*/ 11890928 w 14426439"/>
              <a:gd name="connsiteY10" fmla="*/ 0 h 8924048"/>
              <a:gd name="connsiteX11" fmla="*/ 11941803 w 14426439"/>
              <a:gd name="connsiteY11" fmla="*/ 0 h 8924048"/>
              <a:gd name="connsiteX12" fmla="*/ 14426439 w 14426439"/>
              <a:gd name="connsiteY12" fmla="*/ 0 h 8924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26439" h="8924048">
                <a:moveTo>
                  <a:pt x="14426439" y="8924048"/>
                </a:moveTo>
                <a:lnTo>
                  <a:pt x="0" y="8924048"/>
                </a:lnTo>
                <a:lnTo>
                  <a:pt x="0" y="1607761"/>
                </a:lnTo>
                <a:lnTo>
                  <a:pt x="0" y="1283665"/>
                </a:lnTo>
                <a:lnTo>
                  <a:pt x="0" y="1027483"/>
                </a:lnTo>
                <a:lnTo>
                  <a:pt x="9453972" y="1027483"/>
                </a:lnTo>
                <a:lnTo>
                  <a:pt x="9453972" y="1020389"/>
                </a:lnTo>
                <a:cubicBezTo>
                  <a:pt x="10323133" y="1020389"/>
                  <a:pt x="10640581" y="411029"/>
                  <a:pt x="11106735" y="185684"/>
                </a:cubicBezTo>
                <a:lnTo>
                  <a:pt x="11110674" y="184088"/>
                </a:lnTo>
                <a:lnTo>
                  <a:pt x="11122288" y="176296"/>
                </a:lnTo>
                <a:cubicBezTo>
                  <a:pt x="11318996" y="67371"/>
                  <a:pt x="11590753" y="0"/>
                  <a:pt x="11890928" y="0"/>
                </a:cubicBezTo>
                <a:lnTo>
                  <a:pt x="11941803" y="0"/>
                </a:lnTo>
                <a:lnTo>
                  <a:pt x="14426439" y="0"/>
                </a:lnTo>
                <a:close/>
              </a:path>
            </a:pathLst>
          </a:custGeom>
          <a:solidFill>
            <a:srgbClr val="22497C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81A08D4-3ACB-10AE-F2F7-ECC4DD95A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047" y="844706"/>
            <a:ext cx="2782421" cy="278242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417399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2790</TotalTime>
  <Words>1846</Words>
  <Application>Microsoft Office PowerPoint</Application>
  <PresentationFormat>如螢幕大小 (16:9)</PresentationFormat>
  <Paragraphs>477</Paragraphs>
  <Slides>21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標楷體</vt:lpstr>
      <vt:lpstr>Albert Sans</vt:lpstr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System Reliability Assessment Using Monte Carlo OPF and FCNN</dc:title>
  <dc:subject>PptxGenJS Presentation</dc:subject>
  <dc:creator>PptxGenJS</dc:creator>
  <cp:lastModifiedBy>冉艾倪</cp:lastModifiedBy>
  <cp:revision>4</cp:revision>
  <dcterms:created xsi:type="dcterms:W3CDTF">2026-04-07T05:42:39Z</dcterms:created>
  <dcterms:modified xsi:type="dcterms:W3CDTF">2026-04-09T04:18:37Z</dcterms:modified>
</cp:coreProperties>
</file>